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5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9F5"/>
    <a:srgbClr val="FFFFFF"/>
    <a:srgbClr val="F824F6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5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887595" y="254000"/>
          <a:ext cx="1626235" cy="42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35"/>
              </a:tblGrid>
              <a:tr h="422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Biological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514350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GO:0065007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biological regulation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/>
          <p:nvPr>
            <p:custDataLst>
              <p:tags r:id="rId3"/>
            </p:custDataLst>
          </p:nvPr>
        </p:nvGraphicFramePr>
        <p:xfrm>
          <a:off x="2711450" y="1278255"/>
          <a:ext cx="1257300" cy="735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/>
                <a:gridCol w="419100"/>
                <a:gridCol w="41910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957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椭圆 26"/>
          <p:cNvSpPr/>
          <p:nvPr/>
        </p:nvSpPr>
        <p:spPr>
          <a:xfrm flipH="1">
            <a:off x="2046605" y="166687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036445" y="168084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2046605" y="127825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059305" y="1278890"/>
            <a:ext cx="3924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2463800" y="127825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2463800" y="127825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 flipH="1">
            <a:off x="2880995" y="127825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880995" y="127825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 flipH="1">
            <a:off x="2463800" y="167386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2463800" y="167322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 flipH="1">
            <a:off x="2880995" y="166687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40" name="表格 139"/>
          <p:cNvGraphicFramePr/>
          <p:nvPr>
            <p:custDataLst>
              <p:tags r:id="rId4"/>
            </p:custDataLst>
          </p:nvPr>
        </p:nvGraphicFramePr>
        <p:xfrm>
          <a:off x="3367405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GO:0009987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cellular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1" name="椭圆 140"/>
          <p:cNvSpPr/>
          <p:nvPr/>
        </p:nvSpPr>
        <p:spPr>
          <a:xfrm flipH="1">
            <a:off x="4899660" y="165417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 flipH="1">
            <a:off x="4899660" y="126555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文本框 143"/>
          <p:cNvSpPr txBox="1"/>
          <p:nvPr/>
        </p:nvSpPr>
        <p:spPr>
          <a:xfrm>
            <a:off x="4911725" y="1266825"/>
            <a:ext cx="3924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45" name="椭圆 144"/>
          <p:cNvSpPr/>
          <p:nvPr/>
        </p:nvSpPr>
        <p:spPr>
          <a:xfrm flipH="1">
            <a:off x="5316855" y="126555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文本框 145"/>
          <p:cNvSpPr txBox="1"/>
          <p:nvPr/>
        </p:nvSpPr>
        <p:spPr>
          <a:xfrm>
            <a:off x="5316855" y="126619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47" name="椭圆 146"/>
          <p:cNvSpPr/>
          <p:nvPr/>
        </p:nvSpPr>
        <p:spPr>
          <a:xfrm flipH="1">
            <a:off x="5734050" y="126555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文本框 147"/>
          <p:cNvSpPr txBox="1"/>
          <p:nvPr/>
        </p:nvSpPr>
        <p:spPr>
          <a:xfrm>
            <a:off x="5734050" y="126619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49" name="椭圆 148"/>
          <p:cNvSpPr/>
          <p:nvPr/>
        </p:nvSpPr>
        <p:spPr>
          <a:xfrm flipH="1">
            <a:off x="5316855" y="166116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文本框 149"/>
          <p:cNvSpPr txBox="1"/>
          <p:nvPr/>
        </p:nvSpPr>
        <p:spPr>
          <a:xfrm>
            <a:off x="5316855" y="166052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51" name="椭圆 150"/>
          <p:cNvSpPr/>
          <p:nvPr/>
        </p:nvSpPr>
        <p:spPr>
          <a:xfrm flipH="1">
            <a:off x="5734050" y="165417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53" name="表格 152"/>
          <p:cNvGraphicFramePr/>
          <p:nvPr>
            <p:custDataLst>
              <p:tags r:id="rId5"/>
            </p:custDataLst>
          </p:nvPr>
        </p:nvGraphicFramePr>
        <p:xfrm>
          <a:off x="6169025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GO:0044699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single-organism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表格 165"/>
          <p:cNvGraphicFramePr/>
          <p:nvPr>
            <p:custDataLst>
              <p:tags r:id="rId6"/>
            </p:custDataLst>
          </p:nvPr>
        </p:nvGraphicFramePr>
        <p:xfrm>
          <a:off x="9011920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GO:0032502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developmental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7" name="椭圆 166"/>
          <p:cNvSpPr/>
          <p:nvPr/>
        </p:nvSpPr>
        <p:spPr>
          <a:xfrm flipH="1">
            <a:off x="10949305" y="127825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椭圆 172"/>
          <p:cNvSpPr/>
          <p:nvPr/>
        </p:nvSpPr>
        <p:spPr>
          <a:xfrm flipH="1">
            <a:off x="10532110" y="127825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4" name="文本框 173"/>
          <p:cNvSpPr txBox="1"/>
          <p:nvPr/>
        </p:nvSpPr>
        <p:spPr>
          <a:xfrm>
            <a:off x="10532110" y="127889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75" name="椭圆 174"/>
          <p:cNvSpPr/>
          <p:nvPr/>
        </p:nvSpPr>
        <p:spPr>
          <a:xfrm flipH="1">
            <a:off x="11354435" y="127825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6" name="文本框 175"/>
          <p:cNvSpPr txBox="1"/>
          <p:nvPr/>
        </p:nvSpPr>
        <p:spPr>
          <a:xfrm>
            <a:off x="11354435" y="127889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77" name="椭圆 176"/>
          <p:cNvSpPr/>
          <p:nvPr/>
        </p:nvSpPr>
        <p:spPr>
          <a:xfrm flipH="1">
            <a:off x="10532110" y="166687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1" name="表格 190"/>
          <p:cNvGraphicFramePr/>
          <p:nvPr>
            <p:custDataLst>
              <p:tags r:id="rId7"/>
            </p:custDataLst>
          </p:nvPr>
        </p:nvGraphicFramePr>
        <p:xfrm>
          <a:off x="3367405" y="2351405"/>
          <a:ext cx="1494155" cy="68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681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GO:0050789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 of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biological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表格 216"/>
          <p:cNvGraphicFramePr/>
          <p:nvPr>
            <p:custDataLst>
              <p:tags r:id="rId8"/>
            </p:custDataLst>
          </p:nvPr>
        </p:nvGraphicFramePr>
        <p:xfrm>
          <a:off x="514350" y="345503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GO:0048519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negative regulation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of biological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18" name="椭圆 217"/>
          <p:cNvSpPr/>
          <p:nvPr/>
        </p:nvSpPr>
        <p:spPr>
          <a:xfrm flipH="1">
            <a:off x="2476500" y="345376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2" name="椭圆 221"/>
          <p:cNvSpPr/>
          <p:nvPr/>
        </p:nvSpPr>
        <p:spPr>
          <a:xfrm flipH="1">
            <a:off x="2059305" y="345376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3" name="文本框 222"/>
          <p:cNvSpPr txBox="1"/>
          <p:nvPr/>
        </p:nvSpPr>
        <p:spPr>
          <a:xfrm>
            <a:off x="2059305" y="345376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26" name="椭圆 225"/>
          <p:cNvSpPr/>
          <p:nvPr/>
        </p:nvSpPr>
        <p:spPr>
          <a:xfrm flipH="1">
            <a:off x="2893695" y="345376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文本框 226"/>
          <p:cNvSpPr txBox="1"/>
          <p:nvPr/>
        </p:nvSpPr>
        <p:spPr>
          <a:xfrm>
            <a:off x="2893695" y="3456940"/>
            <a:ext cx="40513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28" name="椭圆 227"/>
          <p:cNvSpPr/>
          <p:nvPr/>
        </p:nvSpPr>
        <p:spPr>
          <a:xfrm flipH="1">
            <a:off x="2071370" y="384238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43" name="表格 242"/>
          <p:cNvGraphicFramePr/>
          <p:nvPr>
            <p:custDataLst>
              <p:tags r:id="rId9"/>
            </p:custDataLst>
          </p:nvPr>
        </p:nvGraphicFramePr>
        <p:xfrm>
          <a:off x="6169025" y="2351405"/>
          <a:ext cx="1494155" cy="70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3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GO:0044763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single-organism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cellular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6" name="表格 255"/>
          <p:cNvGraphicFramePr/>
          <p:nvPr>
            <p:custDataLst>
              <p:tags r:id="rId10"/>
            </p:custDataLst>
          </p:nvPr>
        </p:nvGraphicFramePr>
        <p:xfrm>
          <a:off x="9011920" y="2373630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GO:0044767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single-organism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developmental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57" name="椭圆 256"/>
          <p:cNvSpPr/>
          <p:nvPr/>
        </p:nvSpPr>
        <p:spPr>
          <a:xfrm flipH="1">
            <a:off x="11342370" y="231584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1" name="椭圆 260"/>
          <p:cNvSpPr/>
          <p:nvPr/>
        </p:nvSpPr>
        <p:spPr>
          <a:xfrm flipH="1">
            <a:off x="10532110" y="231584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2" name="文本框 261"/>
          <p:cNvSpPr txBox="1"/>
          <p:nvPr/>
        </p:nvSpPr>
        <p:spPr>
          <a:xfrm>
            <a:off x="10532110" y="231584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63" name="椭圆 262"/>
          <p:cNvSpPr/>
          <p:nvPr/>
        </p:nvSpPr>
        <p:spPr>
          <a:xfrm flipH="1">
            <a:off x="10937240" y="231584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4" name="文本框 263"/>
          <p:cNvSpPr txBox="1"/>
          <p:nvPr/>
        </p:nvSpPr>
        <p:spPr>
          <a:xfrm>
            <a:off x="10937240" y="231584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65" name="椭圆 264"/>
          <p:cNvSpPr/>
          <p:nvPr/>
        </p:nvSpPr>
        <p:spPr>
          <a:xfrm flipH="1">
            <a:off x="10532110" y="271145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6" name="文本框 265"/>
          <p:cNvSpPr txBox="1"/>
          <p:nvPr/>
        </p:nvSpPr>
        <p:spPr>
          <a:xfrm>
            <a:off x="10532110" y="2711450"/>
            <a:ext cx="40513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67" name="椭圆 266"/>
          <p:cNvSpPr/>
          <p:nvPr/>
        </p:nvSpPr>
        <p:spPr>
          <a:xfrm flipH="1">
            <a:off x="10937240" y="2711450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70" name="表格 269"/>
          <p:cNvGraphicFramePr/>
          <p:nvPr>
            <p:custDataLst>
              <p:tags r:id="rId11"/>
            </p:custDataLst>
          </p:nvPr>
        </p:nvGraphicFramePr>
        <p:xfrm>
          <a:off x="3367405" y="345503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GO:0050793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 of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developmental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1" name="表格 270"/>
          <p:cNvGraphicFramePr/>
          <p:nvPr>
            <p:custDataLst>
              <p:tags r:id="rId12"/>
            </p:custDataLst>
          </p:nvPr>
        </p:nvGraphicFramePr>
        <p:xfrm>
          <a:off x="6169025" y="3455035"/>
          <a:ext cx="1494155" cy="70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3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GO:0050794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 of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cellular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表格 283"/>
          <p:cNvGraphicFramePr/>
          <p:nvPr>
            <p:custDataLst>
              <p:tags r:id="rId13"/>
            </p:custDataLst>
          </p:nvPr>
        </p:nvGraphicFramePr>
        <p:xfrm>
          <a:off x="9011920" y="3454400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GO:0048859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cellular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developmental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89" name="椭圆 288"/>
          <p:cNvSpPr/>
          <p:nvPr/>
        </p:nvSpPr>
        <p:spPr>
          <a:xfrm flipH="1">
            <a:off x="10544175" y="345376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0" name="文本框 289"/>
          <p:cNvSpPr txBox="1"/>
          <p:nvPr/>
        </p:nvSpPr>
        <p:spPr>
          <a:xfrm>
            <a:off x="10544175" y="345376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91" name="椭圆 290"/>
          <p:cNvSpPr/>
          <p:nvPr/>
        </p:nvSpPr>
        <p:spPr>
          <a:xfrm flipH="1">
            <a:off x="10949305" y="345376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8" name="曲线连接符 297"/>
          <p:cNvCxnSpPr>
            <a:stCxn id="6" idx="2"/>
            <a:endCxn id="140" idx="0"/>
          </p:cNvCxnSpPr>
          <p:nvPr/>
        </p:nvCxnSpPr>
        <p:spPr>
          <a:xfrm rot="5400000">
            <a:off x="4606925" y="184150"/>
            <a:ext cx="601980" cy="15862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9" name="曲线连接符 298"/>
          <p:cNvCxnSpPr>
            <a:stCxn id="6" idx="2"/>
            <a:endCxn id="12" idx="0"/>
          </p:cNvCxnSpPr>
          <p:nvPr/>
        </p:nvCxnSpPr>
        <p:spPr>
          <a:xfrm rot="5400000">
            <a:off x="3180080" y="-1242695"/>
            <a:ext cx="601980" cy="4439285"/>
          </a:xfrm>
          <a:prstGeom prst="curvedConnector3">
            <a:avLst>
              <a:gd name="adj1" fmla="val 499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0" name="曲线连接符 299"/>
          <p:cNvCxnSpPr>
            <a:stCxn id="6" idx="2"/>
            <a:endCxn id="153" idx="0"/>
          </p:cNvCxnSpPr>
          <p:nvPr/>
        </p:nvCxnSpPr>
        <p:spPr>
          <a:xfrm rot="5400000" flipV="1">
            <a:off x="6007735" y="369570"/>
            <a:ext cx="601980" cy="12153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1" name="曲线连接符 300"/>
          <p:cNvCxnSpPr/>
          <p:nvPr/>
        </p:nvCxnSpPr>
        <p:spPr>
          <a:xfrm rot="5400000" flipV="1">
            <a:off x="7428865" y="-1052195"/>
            <a:ext cx="601980" cy="4058285"/>
          </a:xfrm>
          <a:prstGeom prst="curvedConnector3">
            <a:avLst>
              <a:gd name="adj1" fmla="val 499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2" name="曲线连接符 301"/>
          <p:cNvCxnSpPr/>
          <p:nvPr/>
        </p:nvCxnSpPr>
        <p:spPr>
          <a:xfrm rot="5400000" flipV="1">
            <a:off x="2449195" y="685165"/>
            <a:ext cx="478155" cy="2853055"/>
          </a:xfrm>
          <a:prstGeom prst="curvedConnector3">
            <a:avLst>
              <a:gd name="adj1" fmla="val 50066"/>
            </a:avLst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3" name="曲线连接符 302"/>
          <p:cNvCxnSpPr/>
          <p:nvPr/>
        </p:nvCxnSpPr>
        <p:spPr>
          <a:xfrm rot="5400000" flipV="1">
            <a:off x="5276850" y="711200"/>
            <a:ext cx="478155" cy="280162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4" name="曲线连接符 303"/>
          <p:cNvCxnSpPr>
            <a:stCxn id="153" idx="2"/>
            <a:endCxn id="243" idx="0"/>
          </p:cNvCxnSpPr>
          <p:nvPr/>
        </p:nvCxnSpPr>
        <p:spPr>
          <a:xfrm rot="5400000" flipV="1">
            <a:off x="6677660" y="2112010"/>
            <a:ext cx="478155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5" name="曲线连接符 304"/>
          <p:cNvCxnSpPr/>
          <p:nvPr/>
        </p:nvCxnSpPr>
        <p:spPr>
          <a:xfrm rot="5400000" flipV="1">
            <a:off x="8087360" y="701675"/>
            <a:ext cx="500380" cy="2842895"/>
          </a:xfrm>
          <a:prstGeom prst="curvedConnector3">
            <a:avLst>
              <a:gd name="adj1" fmla="val 499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6" name="曲线连接符 305"/>
          <p:cNvCxnSpPr>
            <a:stCxn id="166" idx="2"/>
            <a:endCxn id="256" idx="0"/>
          </p:cNvCxnSpPr>
          <p:nvPr/>
        </p:nvCxnSpPr>
        <p:spPr>
          <a:xfrm rot="5400000" flipV="1">
            <a:off x="9509125" y="2123440"/>
            <a:ext cx="50038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9" name="曲线连接符 308"/>
          <p:cNvCxnSpPr/>
          <p:nvPr/>
        </p:nvCxnSpPr>
        <p:spPr>
          <a:xfrm rot="5400000">
            <a:off x="2477135" y="1816735"/>
            <a:ext cx="422275" cy="2853055"/>
          </a:xfrm>
          <a:prstGeom prst="curvedConnector3">
            <a:avLst>
              <a:gd name="adj1" fmla="val 5007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0" name="曲线连接符 309"/>
          <p:cNvCxnSpPr>
            <a:stCxn id="191" idx="2"/>
            <a:endCxn id="270" idx="0"/>
          </p:cNvCxnSpPr>
          <p:nvPr/>
        </p:nvCxnSpPr>
        <p:spPr>
          <a:xfrm rot="5400000" flipV="1">
            <a:off x="3903663" y="3243898"/>
            <a:ext cx="422275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1" name="曲线连接符 310"/>
          <p:cNvCxnSpPr/>
          <p:nvPr/>
        </p:nvCxnSpPr>
        <p:spPr>
          <a:xfrm rot="5400000" flipV="1">
            <a:off x="5304790" y="1842770"/>
            <a:ext cx="422275" cy="280162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曲线连接符 311"/>
          <p:cNvCxnSpPr/>
          <p:nvPr/>
        </p:nvCxnSpPr>
        <p:spPr>
          <a:xfrm rot="5400000" flipV="1">
            <a:off x="8138160" y="1833245"/>
            <a:ext cx="399415" cy="2842895"/>
          </a:xfrm>
          <a:prstGeom prst="curvedConnector3">
            <a:avLst>
              <a:gd name="adj1" fmla="val 50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3" name="曲线连接符 312"/>
          <p:cNvCxnSpPr>
            <a:stCxn id="256" idx="2"/>
            <a:endCxn id="284" idx="0"/>
          </p:cNvCxnSpPr>
          <p:nvPr/>
        </p:nvCxnSpPr>
        <p:spPr>
          <a:xfrm rot="5400000" flipV="1">
            <a:off x="9569450" y="3264535"/>
            <a:ext cx="37973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5" name="表格 314"/>
          <p:cNvGraphicFramePr/>
          <p:nvPr>
            <p:custDataLst>
              <p:tags r:id="rId14"/>
            </p:custDataLst>
          </p:nvPr>
        </p:nvGraphicFramePr>
        <p:xfrm>
          <a:off x="514350" y="467931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GO:0051093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negative regulation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of developmental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6" name="表格 315"/>
          <p:cNvGraphicFramePr/>
          <p:nvPr>
            <p:custDataLst>
              <p:tags r:id="rId15"/>
            </p:custDataLst>
          </p:nvPr>
        </p:nvGraphicFramePr>
        <p:xfrm>
          <a:off x="3367405" y="4679315"/>
          <a:ext cx="149415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GO:0048523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negative regulation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of cellular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17" name="椭圆 316"/>
          <p:cNvSpPr/>
          <p:nvPr/>
        </p:nvSpPr>
        <p:spPr>
          <a:xfrm flipH="1">
            <a:off x="5299075" y="466661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9" name="椭圆 318"/>
          <p:cNvSpPr/>
          <p:nvPr/>
        </p:nvSpPr>
        <p:spPr>
          <a:xfrm flipH="1">
            <a:off x="4881880" y="4665980"/>
            <a:ext cx="405130" cy="34417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0" name="文本框 319"/>
          <p:cNvSpPr txBox="1"/>
          <p:nvPr/>
        </p:nvSpPr>
        <p:spPr>
          <a:xfrm>
            <a:off x="4881880" y="4681855"/>
            <a:ext cx="405130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21" name="椭圆 320"/>
          <p:cNvSpPr/>
          <p:nvPr/>
        </p:nvSpPr>
        <p:spPr>
          <a:xfrm flipH="1">
            <a:off x="5716270" y="466661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2" name="文本框 321"/>
          <p:cNvSpPr txBox="1"/>
          <p:nvPr/>
        </p:nvSpPr>
        <p:spPr>
          <a:xfrm>
            <a:off x="5716270" y="4679315"/>
            <a:ext cx="405130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23" name="椭圆 322"/>
          <p:cNvSpPr/>
          <p:nvPr/>
        </p:nvSpPr>
        <p:spPr>
          <a:xfrm flipH="1">
            <a:off x="4893945" y="505523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5" name="表格 324"/>
          <p:cNvGraphicFramePr/>
          <p:nvPr>
            <p:custDataLst>
              <p:tags r:id="rId16"/>
            </p:custDataLst>
          </p:nvPr>
        </p:nvGraphicFramePr>
        <p:xfrm>
          <a:off x="6195060" y="4679315"/>
          <a:ext cx="149415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GO:0045595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 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of cell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differentiation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" name="表格 333"/>
          <p:cNvGraphicFramePr/>
          <p:nvPr>
            <p:custDataLst>
              <p:tags r:id="rId17"/>
            </p:custDataLst>
          </p:nvPr>
        </p:nvGraphicFramePr>
        <p:xfrm>
          <a:off x="9011920" y="4679315"/>
          <a:ext cx="149415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GO:0030154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 cell differentiation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35" name="椭圆 334"/>
          <p:cNvSpPr/>
          <p:nvPr/>
        </p:nvSpPr>
        <p:spPr>
          <a:xfrm flipH="1">
            <a:off x="10532110" y="466661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6" name="文本框 335"/>
          <p:cNvSpPr txBox="1"/>
          <p:nvPr/>
        </p:nvSpPr>
        <p:spPr>
          <a:xfrm>
            <a:off x="10532110" y="466661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37" name="椭圆 336"/>
          <p:cNvSpPr/>
          <p:nvPr/>
        </p:nvSpPr>
        <p:spPr>
          <a:xfrm flipH="1">
            <a:off x="10937240" y="466661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39" name="表格 338"/>
          <p:cNvGraphicFramePr/>
          <p:nvPr>
            <p:custDataLst>
              <p:tags r:id="rId18"/>
            </p:custDataLst>
          </p:nvPr>
        </p:nvGraphicFramePr>
        <p:xfrm>
          <a:off x="4887595" y="5905500"/>
          <a:ext cx="1626235" cy="42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35"/>
              </a:tblGrid>
              <a:tr h="422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GO:0045596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positive regulation 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of cell proliferation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40" name="曲线连接符 339"/>
          <p:cNvCxnSpPr>
            <a:stCxn id="217" idx="2"/>
            <a:endCxn id="315" idx="0"/>
          </p:cNvCxnSpPr>
          <p:nvPr/>
        </p:nvCxnSpPr>
        <p:spPr>
          <a:xfrm rot="5400000" flipV="1">
            <a:off x="1000125" y="4417695"/>
            <a:ext cx="52324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1" name="曲线连接符 340"/>
          <p:cNvCxnSpPr>
            <a:stCxn id="217" idx="2"/>
            <a:endCxn id="316" idx="0"/>
          </p:cNvCxnSpPr>
          <p:nvPr/>
        </p:nvCxnSpPr>
        <p:spPr>
          <a:xfrm rot="5400000" flipV="1">
            <a:off x="2426335" y="2990850"/>
            <a:ext cx="523240" cy="2853055"/>
          </a:xfrm>
          <a:prstGeom prst="curvedConnector3">
            <a:avLst>
              <a:gd name="adj1" fmla="val 499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2" name="曲线连接符 341"/>
          <p:cNvCxnSpPr>
            <a:stCxn id="270" idx="2"/>
            <a:endCxn id="315" idx="0"/>
          </p:cNvCxnSpPr>
          <p:nvPr/>
        </p:nvCxnSpPr>
        <p:spPr>
          <a:xfrm rot="5400000">
            <a:off x="2426335" y="2990850"/>
            <a:ext cx="523240" cy="2853055"/>
          </a:xfrm>
          <a:prstGeom prst="curvedConnector3">
            <a:avLst>
              <a:gd name="adj1" fmla="val 499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3" name="曲线连接符 342"/>
          <p:cNvCxnSpPr>
            <a:stCxn id="270" idx="2"/>
            <a:endCxn id="325" idx="0"/>
          </p:cNvCxnSpPr>
          <p:nvPr/>
        </p:nvCxnSpPr>
        <p:spPr>
          <a:xfrm rot="5400000" flipV="1">
            <a:off x="5267008" y="3003868"/>
            <a:ext cx="523240" cy="2827655"/>
          </a:xfrm>
          <a:prstGeom prst="curvedConnector3">
            <a:avLst>
              <a:gd name="adj1" fmla="val 499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4" name="曲线连接符 343"/>
          <p:cNvCxnSpPr>
            <a:stCxn id="271" idx="2"/>
            <a:endCxn id="316" idx="0"/>
          </p:cNvCxnSpPr>
          <p:nvPr/>
        </p:nvCxnSpPr>
        <p:spPr>
          <a:xfrm rot="5400000">
            <a:off x="5255260" y="3018155"/>
            <a:ext cx="520700" cy="280162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5" name="曲线连接符 344"/>
          <p:cNvCxnSpPr>
            <a:endCxn id="325" idx="0"/>
          </p:cNvCxnSpPr>
          <p:nvPr/>
        </p:nvCxnSpPr>
        <p:spPr>
          <a:xfrm rot="5400000">
            <a:off x="6688455" y="4418330"/>
            <a:ext cx="514985" cy="6985"/>
          </a:xfrm>
          <a:prstGeom prst="curvedConnector3">
            <a:avLst>
              <a:gd name="adj1" fmla="val 500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6" name="曲线连接符 345"/>
          <p:cNvCxnSpPr>
            <a:stCxn id="284" idx="2"/>
            <a:endCxn id="334" idx="0"/>
          </p:cNvCxnSpPr>
          <p:nvPr/>
        </p:nvCxnSpPr>
        <p:spPr>
          <a:xfrm rot="5400000" flipV="1">
            <a:off x="9497695" y="4417060"/>
            <a:ext cx="523875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7" name="曲线连接符 346"/>
          <p:cNvCxnSpPr>
            <a:stCxn id="315" idx="2"/>
            <a:endCxn id="339" idx="0"/>
          </p:cNvCxnSpPr>
          <p:nvPr/>
        </p:nvCxnSpPr>
        <p:spPr>
          <a:xfrm rot="5400000" flipV="1">
            <a:off x="3218815" y="3422650"/>
            <a:ext cx="525145" cy="4439285"/>
          </a:xfrm>
          <a:prstGeom prst="curvedConnector3">
            <a:avLst>
              <a:gd name="adj1" fmla="val 500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8" name="曲线连接符 347"/>
          <p:cNvCxnSpPr>
            <a:stCxn id="316" idx="2"/>
            <a:endCxn id="339" idx="0"/>
          </p:cNvCxnSpPr>
          <p:nvPr/>
        </p:nvCxnSpPr>
        <p:spPr>
          <a:xfrm rot="5400000" flipV="1">
            <a:off x="4645660" y="4849495"/>
            <a:ext cx="525145" cy="15862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9" name="曲线连接符 348"/>
          <p:cNvCxnSpPr>
            <a:stCxn id="325" idx="2"/>
            <a:endCxn id="339" idx="0"/>
          </p:cNvCxnSpPr>
          <p:nvPr/>
        </p:nvCxnSpPr>
        <p:spPr>
          <a:xfrm rot="5400000">
            <a:off x="6059170" y="5021580"/>
            <a:ext cx="525145" cy="1241425"/>
          </a:xfrm>
          <a:prstGeom prst="curvedConnector3">
            <a:avLst>
              <a:gd name="adj1" fmla="val 500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0" name="曲线连接符 349"/>
          <p:cNvCxnSpPr>
            <a:stCxn id="334" idx="2"/>
            <a:endCxn id="339" idx="0"/>
          </p:cNvCxnSpPr>
          <p:nvPr/>
        </p:nvCxnSpPr>
        <p:spPr>
          <a:xfrm rot="5400000">
            <a:off x="7467600" y="3613150"/>
            <a:ext cx="525145" cy="4058285"/>
          </a:xfrm>
          <a:prstGeom prst="curvedConnector3">
            <a:avLst>
              <a:gd name="adj1" fmla="val 500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1" name="椭圆 350"/>
          <p:cNvSpPr/>
          <p:nvPr/>
        </p:nvSpPr>
        <p:spPr>
          <a:xfrm flipH="1">
            <a:off x="9761220" y="5561330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2" name="文本框 351"/>
          <p:cNvSpPr txBox="1"/>
          <p:nvPr/>
        </p:nvSpPr>
        <p:spPr>
          <a:xfrm>
            <a:off x="9761220" y="556133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53" name="椭圆 352"/>
          <p:cNvSpPr/>
          <p:nvPr/>
        </p:nvSpPr>
        <p:spPr>
          <a:xfrm flipH="1">
            <a:off x="514350" y="5949950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4" name="文本框 353"/>
          <p:cNvSpPr txBox="1"/>
          <p:nvPr/>
        </p:nvSpPr>
        <p:spPr>
          <a:xfrm>
            <a:off x="514350" y="594995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C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55" name="椭圆 354"/>
          <p:cNvSpPr/>
          <p:nvPr/>
        </p:nvSpPr>
        <p:spPr>
          <a:xfrm flipH="1">
            <a:off x="514350" y="6338570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7" name="文本框 356"/>
          <p:cNvSpPr txBox="1"/>
          <p:nvPr/>
        </p:nvSpPr>
        <p:spPr>
          <a:xfrm>
            <a:off x="10166350" y="5619115"/>
            <a:ext cx="77216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Naive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358" name="文本框 357"/>
          <p:cNvSpPr txBox="1"/>
          <p:nvPr/>
        </p:nvSpPr>
        <p:spPr>
          <a:xfrm>
            <a:off x="919480" y="6007735"/>
            <a:ext cx="1089025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DeepGOCNN</a:t>
            </a:r>
            <a:endParaRPr lang="en-US" altLang="zh-CN" sz="1000" b="1"/>
          </a:p>
        </p:txBody>
      </p:sp>
      <p:sp>
        <p:nvSpPr>
          <p:cNvPr id="359" name="文本框 358"/>
          <p:cNvSpPr txBox="1"/>
          <p:nvPr/>
        </p:nvSpPr>
        <p:spPr>
          <a:xfrm>
            <a:off x="919480" y="6396355"/>
            <a:ext cx="1089025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DeepGOPlus</a:t>
            </a:r>
            <a:endParaRPr lang="en-US" altLang="zh-CN" sz="1000" b="1"/>
          </a:p>
        </p:txBody>
      </p:sp>
      <p:sp>
        <p:nvSpPr>
          <p:cNvPr id="360" name="椭圆 359"/>
          <p:cNvSpPr/>
          <p:nvPr/>
        </p:nvSpPr>
        <p:spPr>
          <a:xfrm flipH="1">
            <a:off x="514350" y="5561330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1" name="文本框 360"/>
          <p:cNvSpPr txBox="1"/>
          <p:nvPr/>
        </p:nvSpPr>
        <p:spPr>
          <a:xfrm>
            <a:off x="514350" y="556133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919480" y="5619115"/>
            <a:ext cx="108585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DiamondScore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363" name="椭圆 362"/>
          <p:cNvSpPr/>
          <p:nvPr/>
        </p:nvSpPr>
        <p:spPr>
          <a:xfrm flipH="1">
            <a:off x="9761220" y="594995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4" name="文本框 363"/>
          <p:cNvSpPr txBox="1"/>
          <p:nvPr/>
        </p:nvSpPr>
        <p:spPr>
          <a:xfrm>
            <a:off x="9761220" y="594995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65" name="文本框 364"/>
          <p:cNvSpPr txBox="1"/>
          <p:nvPr/>
        </p:nvSpPr>
        <p:spPr>
          <a:xfrm>
            <a:off x="10165080" y="6007735"/>
            <a:ext cx="77216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MVCFF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368" name="文本框 367"/>
          <p:cNvSpPr txBox="1"/>
          <p:nvPr/>
        </p:nvSpPr>
        <p:spPr>
          <a:xfrm>
            <a:off x="10165080" y="6396355"/>
            <a:ext cx="77216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MVCFF+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369" name="椭圆 368"/>
          <p:cNvSpPr/>
          <p:nvPr/>
        </p:nvSpPr>
        <p:spPr>
          <a:xfrm flipH="1">
            <a:off x="9758045" y="6338570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68930" y="167386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7595" y="167386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21985" y="166116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flipH="1">
            <a:off x="4881880" y="274129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 flipH="1">
            <a:off x="4881880" y="235267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93945" y="2353945"/>
            <a:ext cx="3924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5299075" y="235267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99075" y="235331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5716270" y="235267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716270" y="235331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5299075" y="274828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99075" y="274764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5716270" y="274129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857115" y="274828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4205" y="274828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7713345" y="166052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 flipH="1">
            <a:off x="7713345" y="127190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725410" y="1273175"/>
            <a:ext cx="3924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8130540" y="127190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130540" y="127254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8547735" y="127190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547735" y="127254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8130540" y="166751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130540" y="166687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8547735" y="166052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702550" y="167449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35670" y="166751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 flipH="1">
            <a:off x="7726045" y="274256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 flipH="1">
            <a:off x="7726045" y="235394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7738110" y="2355215"/>
            <a:ext cx="3924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 flipH="1">
            <a:off x="8143240" y="235394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8143240" y="235458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 flipH="1">
            <a:off x="8560435" y="235394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560435" y="235458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 flipH="1">
            <a:off x="8143240" y="274955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143240" y="274891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 flipH="1">
            <a:off x="8560435" y="274256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7701280" y="274955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548370" y="274955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 flipH="1">
            <a:off x="7713980" y="384238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 flipH="1">
            <a:off x="7713980" y="345376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7726045" y="3455035"/>
            <a:ext cx="3924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0" name="椭圆 69"/>
          <p:cNvSpPr/>
          <p:nvPr/>
        </p:nvSpPr>
        <p:spPr>
          <a:xfrm flipH="1">
            <a:off x="8131175" y="345376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8131175" y="345440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2" name="椭圆 71"/>
          <p:cNvSpPr/>
          <p:nvPr/>
        </p:nvSpPr>
        <p:spPr>
          <a:xfrm flipH="1">
            <a:off x="8548370" y="345376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8548370" y="3454400"/>
            <a:ext cx="4051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4" name="椭圆 73"/>
          <p:cNvSpPr/>
          <p:nvPr/>
        </p:nvSpPr>
        <p:spPr>
          <a:xfrm flipH="1">
            <a:off x="8131175" y="384937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8131175" y="384873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6" name="椭圆 75"/>
          <p:cNvSpPr/>
          <p:nvPr/>
        </p:nvSpPr>
        <p:spPr>
          <a:xfrm flipH="1">
            <a:off x="8548370" y="384238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7689215" y="384937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536305" y="384937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00380" y="6352540"/>
            <a:ext cx="433705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CP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465705" y="346392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0937240" y="129286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283200" y="468185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059305" y="384873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0525125" y="166751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1331575" y="233426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0931525" y="272034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938510" y="345694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0933430" y="466598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744075" y="634555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862830" y="508000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887595" y="254000"/>
          <a:ext cx="1626235" cy="42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35"/>
              </a:tblGrid>
              <a:tr h="422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Biological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2141855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GO:0044699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single-organism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表格 139"/>
          <p:cNvGraphicFramePr/>
          <p:nvPr>
            <p:custDataLst>
              <p:tags r:id="rId3"/>
            </p:custDataLst>
          </p:nvPr>
        </p:nvGraphicFramePr>
        <p:xfrm>
          <a:off x="4953000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GO:0009987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cellular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表格 152"/>
          <p:cNvGraphicFramePr/>
          <p:nvPr>
            <p:custDataLst>
              <p:tags r:id="rId4"/>
            </p:custDataLst>
          </p:nvPr>
        </p:nvGraphicFramePr>
        <p:xfrm>
          <a:off x="7761605" y="127825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GO:0065007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biological 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表格 190"/>
          <p:cNvGraphicFramePr/>
          <p:nvPr>
            <p:custDataLst>
              <p:tags r:id="rId5"/>
            </p:custDataLst>
          </p:nvPr>
        </p:nvGraphicFramePr>
        <p:xfrm>
          <a:off x="7761605" y="2293620"/>
          <a:ext cx="1494155" cy="68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681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GO:0050789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 of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biological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1" name="表格 270"/>
          <p:cNvGraphicFramePr/>
          <p:nvPr>
            <p:custDataLst>
              <p:tags r:id="rId6"/>
            </p:custDataLst>
          </p:nvPr>
        </p:nvGraphicFramePr>
        <p:xfrm>
          <a:off x="4953000" y="3375025"/>
          <a:ext cx="1494155" cy="70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3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GO:0050794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regulation of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biological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表格 283"/>
          <p:cNvGraphicFramePr/>
          <p:nvPr>
            <p:custDataLst>
              <p:tags r:id="rId7"/>
            </p:custDataLst>
          </p:nvPr>
        </p:nvGraphicFramePr>
        <p:xfrm>
          <a:off x="7761605" y="3375025"/>
          <a:ext cx="1494155" cy="59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594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GO:0048518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positive regulation 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of biological 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298" name="曲线连接符 297"/>
          <p:cNvCxnSpPr>
            <a:stCxn id="6" idx="2"/>
            <a:endCxn id="140" idx="0"/>
          </p:cNvCxnSpPr>
          <p:nvPr/>
        </p:nvCxnSpPr>
        <p:spPr>
          <a:xfrm rot="5400000">
            <a:off x="5399723" y="976948"/>
            <a:ext cx="601980" cy="635"/>
          </a:xfrm>
          <a:prstGeom prst="curvedConnector3">
            <a:avLst>
              <a:gd name="adj1" fmla="val 49947"/>
            </a:avLst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9" name="曲线连接符 298"/>
          <p:cNvCxnSpPr>
            <a:stCxn id="6" idx="2"/>
            <a:endCxn id="12" idx="0"/>
          </p:cNvCxnSpPr>
          <p:nvPr/>
        </p:nvCxnSpPr>
        <p:spPr>
          <a:xfrm rot="5400000">
            <a:off x="3994150" y="-428625"/>
            <a:ext cx="601980" cy="281178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0" name="曲线连接符 299"/>
          <p:cNvCxnSpPr>
            <a:stCxn id="6" idx="2"/>
            <a:endCxn id="153" idx="0"/>
          </p:cNvCxnSpPr>
          <p:nvPr/>
        </p:nvCxnSpPr>
        <p:spPr>
          <a:xfrm rot="5400000" flipV="1">
            <a:off x="6804025" y="-426720"/>
            <a:ext cx="601980" cy="28079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15" name="表格 314"/>
          <p:cNvGraphicFramePr/>
          <p:nvPr>
            <p:custDataLst>
              <p:tags r:id="rId8"/>
            </p:custDataLst>
          </p:nvPr>
        </p:nvGraphicFramePr>
        <p:xfrm>
          <a:off x="2141855" y="4594860"/>
          <a:ext cx="1494155" cy="701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1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GO:0008283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cell proliferation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6" name="表格 315"/>
          <p:cNvGraphicFramePr/>
          <p:nvPr>
            <p:custDataLst>
              <p:tags r:id="rId9"/>
            </p:custDataLst>
          </p:nvPr>
        </p:nvGraphicFramePr>
        <p:xfrm>
          <a:off x="4953000" y="4595495"/>
          <a:ext cx="149415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GO:0042127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 regulation of cell proliferation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5" name="表格 324"/>
          <p:cNvGraphicFramePr/>
          <p:nvPr>
            <p:custDataLst>
              <p:tags r:id="rId10"/>
            </p:custDataLst>
          </p:nvPr>
        </p:nvGraphicFramePr>
        <p:xfrm>
          <a:off x="7761605" y="4595495"/>
          <a:ext cx="149415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GO:0048522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positive regulation 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of cellular process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9" name="表格 338"/>
          <p:cNvGraphicFramePr/>
          <p:nvPr>
            <p:custDataLst>
              <p:tags r:id="rId11"/>
            </p:custDataLst>
          </p:nvPr>
        </p:nvGraphicFramePr>
        <p:xfrm>
          <a:off x="4887595" y="5821680"/>
          <a:ext cx="1626235" cy="42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35"/>
              </a:tblGrid>
              <a:tr h="422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GO:0008284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positive regulation </a:t>
                      </a:r>
                      <a:endParaRPr lang="en-US" altLang="zh-CN" sz="1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sym typeface="+mn-ea"/>
                        </a:rPr>
                        <a:t>of cell proliferation</a:t>
                      </a:r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曲线连接符 4"/>
          <p:cNvCxnSpPr>
            <a:stCxn id="153" idx="2"/>
            <a:endCxn id="191" idx="0"/>
          </p:cNvCxnSpPr>
          <p:nvPr/>
        </p:nvCxnSpPr>
        <p:spPr>
          <a:xfrm rot="5400000" flipV="1">
            <a:off x="8298815" y="2083435"/>
            <a:ext cx="42037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肘形连接符 6"/>
          <p:cNvCxnSpPr>
            <a:stCxn id="140" idx="2"/>
            <a:endCxn id="271" idx="0"/>
          </p:cNvCxnSpPr>
          <p:nvPr/>
        </p:nvCxnSpPr>
        <p:spPr>
          <a:xfrm rot="5400000" flipV="1">
            <a:off x="4949825" y="2623820"/>
            <a:ext cx="150177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曲线连接符 7"/>
          <p:cNvCxnSpPr>
            <a:stCxn id="191" idx="1"/>
            <a:endCxn id="271" idx="0"/>
          </p:cNvCxnSpPr>
          <p:nvPr/>
        </p:nvCxnSpPr>
        <p:spPr>
          <a:xfrm rot="10800000" flipV="1">
            <a:off x="5700395" y="2634615"/>
            <a:ext cx="2061210" cy="74041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stCxn id="191" idx="2"/>
            <a:endCxn id="284" idx="0"/>
          </p:cNvCxnSpPr>
          <p:nvPr/>
        </p:nvCxnSpPr>
        <p:spPr>
          <a:xfrm rot="5400000" flipV="1">
            <a:off x="8308975" y="3175000"/>
            <a:ext cx="40005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曲线连接符 9"/>
          <p:cNvCxnSpPr>
            <a:stCxn id="12" idx="2"/>
            <a:endCxn id="315" idx="0"/>
          </p:cNvCxnSpPr>
          <p:nvPr/>
        </p:nvCxnSpPr>
        <p:spPr>
          <a:xfrm rot="5400000" flipV="1">
            <a:off x="1528445" y="3234055"/>
            <a:ext cx="272161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曲线连接符 10"/>
          <p:cNvCxnSpPr>
            <a:stCxn id="271" idx="2"/>
            <a:endCxn id="316" idx="0"/>
          </p:cNvCxnSpPr>
          <p:nvPr/>
        </p:nvCxnSpPr>
        <p:spPr>
          <a:xfrm rot="5400000" flipV="1">
            <a:off x="5441950" y="4337050"/>
            <a:ext cx="51689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曲线连接符 12"/>
          <p:cNvCxnSpPr>
            <a:stCxn id="271" idx="2"/>
            <a:endCxn id="325" idx="0"/>
          </p:cNvCxnSpPr>
          <p:nvPr/>
        </p:nvCxnSpPr>
        <p:spPr>
          <a:xfrm rot="5400000" flipV="1">
            <a:off x="6845935" y="2932430"/>
            <a:ext cx="516890" cy="2808605"/>
          </a:xfrm>
          <a:prstGeom prst="curvedConnector3">
            <a:avLst>
              <a:gd name="adj1" fmla="val 499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284" idx="2"/>
            <a:endCxn id="325" idx="0"/>
          </p:cNvCxnSpPr>
          <p:nvPr/>
        </p:nvCxnSpPr>
        <p:spPr>
          <a:xfrm rot="5400000" flipV="1">
            <a:off x="8249285" y="4335780"/>
            <a:ext cx="519430" cy="31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曲线连接符 14"/>
          <p:cNvCxnSpPr>
            <a:stCxn id="315" idx="2"/>
            <a:endCxn id="339" idx="0"/>
          </p:cNvCxnSpPr>
          <p:nvPr/>
        </p:nvCxnSpPr>
        <p:spPr>
          <a:xfrm rot="5400000" flipV="1">
            <a:off x="4032885" y="4152900"/>
            <a:ext cx="525145" cy="281178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曲线连接符 15"/>
          <p:cNvCxnSpPr>
            <a:stCxn id="316" idx="2"/>
            <a:endCxn id="339" idx="0"/>
          </p:cNvCxnSpPr>
          <p:nvPr/>
        </p:nvCxnSpPr>
        <p:spPr>
          <a:xfrm rot="5400000" flipV="1">
            <a:off x="5438140" y="5558155"/>
            <a:ext cx="525145" cy="3175"/>
          </a:xfrm>
          <a:prstGeom prst="curvedConnector3">
            <a:avLst>
              <a:gd name="adj1" fmla="val 500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曲线连接符 16"/>
          <p:cNvCxnSpPr>
            <a:stCxn id="325" idx="2"/>
            <a:endCxn id="339" idx="0"/>
          </p:cNvCxnSpPr>
          <p:nvPr/>
        </p:nvCxnSpPr>
        <p:spPr>
          <a:xfrm rot="5400000">
            <a:off x="6842760" y="4154805"/>
            <a:ext cx="525145" cy="28079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 flipH="1">
            <a:off x="3676015" y="1667510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65855" y="168148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 flipH="1">
            <a:off x="3676015" y="1278890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688715" y="1279525"/>
            <a:ext cx="3924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 flipH="1">
            <a:off x="4093210" y="1278890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093210" y="127889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4510405" y="1278890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510405" y="127889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4093210" y="167449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093210" y="1673860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4510405" y="1667510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498340" y="167449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485255" y="166814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475095" y="168211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6485255" y="127952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497955" y="1280160"/>
            <a:ext cx="3924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 flipH="1">
            <a:off x="6902450" y="127952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902450" y="127952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 flipH="1">
            <a:off x="7319645" y="127952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319645" y="127952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 flipH="1">
            <a:off x="6902450" y="167513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902450" y="167449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49" name="椭圆 48"/>
          <p:cNvSpPr/>
          <p:nvPr/>
        </p:nvSpPr>
        <p:spPr>
          <a:xfrm flipH="1">
            <a:off x="7319645" y="166814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307580" y="167513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 flipH="1">
            <a:off x="9293860" y="1666875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283700" y="168084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9293860" y="1278255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9306560" y="1278890"/>
            <a:ext cx="3924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9711055" y="1278255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9711055" y="127825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10128250" y="1278255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10128250" y="1278255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59" name="椭圆 58"/>
          <p:cNvSpPr/>
          <p:nvPr/>
        </p:nvSpPr>
        <p:spPr>
          <a:xfrm flipH="1">
            <a:off x="9711055" y="167386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9711055" y="1673225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61" name="椭圆 60"/>
          <p:cNvSpPr/>
          <p:nvPr/>
        </p:nvSpPr>
        <p:spPr>
          <a:xfrm flipH="1">
            <a:off x="10128250" y="1666875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0116185" y="167386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63" name="椭圆 62"/>
          <p:cNvSpPr/>
          <p:nvPr/>
        </p:nvSpPr>
        <p:spPr>
          <a:xfrm flipH="1">
            <a:off x="9308465" y="2679700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298305" y="269367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65" name="椭圆 64"/>
          <p:cNvSpPr/>
          <p:nvPr/>
        </p:nvSpPr>
        <p:spPr>
          <a:xfrm flipH="1">
            <a:off x="9308465" y="2291080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9321165" y="2291715"/>
            <a:ext cx="3924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 flipH="1">
            <a:off x="9725660" y="2291080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9725660" y="229108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69" name="椭圆 68"/>
          <p:cNvSpPr/>
          <p:nvPr/>
        </p:nvSpPr>
        <p:spPr>
          <a:xfrm flipH="1">
            <a:off x="10142855" y="2291080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0142855" y="229108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1" name="椭圆 70"/>
          <p:cNvSpPr/>
          <p:nvPr/>
        </p:nvSpPr>
        <p:spPr>
          <a:xfrm flipH="1">
            <a:off x="9725660" y="268668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9725660" y="2686050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3" name="椭圆 72"/>
          <p:cNvSpPr/>
          <p:nvPr/>
        </p:nvSpPr>
        <p:spPr>
          <a:xfrm flipH="1">
            <a:off x="10142855" y="2679700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0130790" y="268668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5" name="椭圆 74"/>
          <p:cNvSpPr/>
          <p:nvPr/>
        </p:nvSpPr>
        <p:spPr>
          <a:xfrm flipH="1">
            <a:off x="6499860" y="3765550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6489700" y="3779520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7" name="椭圆 76"/>
          <p:cNvSpPr/>
          <p:nvPr/>
        </p:nvSpPr>
        <p:spPr>
          <a:xfrm flipH="1">
            <a:off x="6499860" y="3376930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6512560" y="3377565"/>
            <a:ext cx="392430" cy="34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79" name="椭圆 78"/>
          <p:cNvSpPr/>
          <p:nvPr/>
        </p:nvSpPr>
        <p:spPr>
          <a:xfrm flipH="1">
            <a:off x="6917055" y="3376930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6917055" y="337693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1" name="椭圆 80"/>
          <p:cNvSpPr/>
          <p:nvPr/>
        </p:nvSpPr>
        <p:spPr>
          <a:xfrm flipH="1">
            <a:off x="7334250" y="3376930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7334250" y="337693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C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3" name="椭圆 82"/>
          <p:cNvSpPr/>
          <p:nvPr/>
        </p:nvSpPr>
        <p:spPr>
          <a:xfrm flipH="1">
            <a:off x="6917055" y="3772535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6917055" y="3771900"/>
            <a:ext cx="40513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5" name="椭圆 84"/>
          <p:cNvSpPr/>
          <p:nvPr/>
        </p:nvSpPr>
        <p:spPr>
          <a:xfrm flipH="1">
            <a:off x="7334250" y="3765550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7322185" y="377253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7" name="椭圆 86"/>
          <p:cNvSpPr/>
          <p:nvPr/>
        </p:nvSpPr>
        <p:spPr>
          <a:xfrm flipH="1">
            <a:off x="2145030" y="5866130"/>
            <a:ext cx="405130" cy="343535"/>
          </a:xfrm>
          <a:prstGeom prst="ellipse">
            <a:avLst/>
          </a:prstGeom>
          <a:solidFill>
            <a:srgbClr val="C579F5"/>
          </a:solidFill>
          <a:ln>
            <a:solidFill>
              <a:srgbClr val="C579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2145030" y="586613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C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89" name="椭圆 88"/>
          <p:cNvSpPr/>
          <p:nvPr/>
        </p:nvSpPr>
        <p:spPr>
          <a:xfrm flipH="1">
            <a:off x="2145030" y="6254750"/>
            <a:ext cx="405130" cy="343535"/>
          </a:xfrm>
          <a:prstGeom prst="ellipse">
            <a:avLst/>
          </a:prstGeom>
          <a:solidFill>
            <a:srgbClr val="F824F6"/>
          </a:solidFill>
          <a:ln>
            <a:solidFill>
              <a:srgbClr val="F824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550160" y="5923915"/>
            <a:ext cx="1089025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DeepGOCNN</a:t>
            </a:r>
            <a:endParaRPr lang="en-US" altLang="zh-CN" sz="1000" b="1"/>
          </a:p>
        </p:txBody>
      </p:sp>
      <p:sp>
        <p:nvSpPr>
          <p:cNvPr id="91" name="文本框 90"/>
          <p:cNvSpPr txBox="1"/>
          <p:nvPr/>
        </p:nvSpPr>
        <p:spPr>
          <a:xfrm>
            <a:off x="2550160" y="6312535"/>
            <a:ext cx="1089025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DeepGOPlus</a:t>
            </a:r>
            <a:endParaRPr lang="en-US" altLang="zh-CN" sz="1000" b="1"/>
          </a:p>
        </p:txBody>
      </p:sp>
      <p:sp>
        <p:nvSpPr>
          <p:cNvPr id="92" name="椭圆 91"/>
          <p:cNvSpPr/>
          <p:nvPr/>
        </p:nvSpPr>
        <p:spPr>
          <a:xfrm flipH="1">
            <a:off x="2145030" y="5477510"/>
            <a:ext cx="405130" cy="34353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2145030" y="547751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550160" y="5535295"/>
            <a:ext cx="108585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DiamondScore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95" name="文本框 94"/>
          <p:cNvSpPr txBox="1"/>
          <p:nvPr/>
        </p:nvSpPr>
        <p:spPr>
          <a:xfrm>
            <a:off x="2131060" y="6268720"/>
            <a:ext cx="433705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CP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5" name="椭圆 104"/>
          <p:cNvSpPr/>
          <p:nvPr/>
        </p:nvSpPr>
        <p:spPr>
          <a:xfrm flipH="1">
            <a:off x="8434705" y="5477510"/>
            <a:ext cx="405130" cy="34353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8434705" y="547751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N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39835" y="5535295"/>
            <a:ext cx="77216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Naive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108" name="椭圆 107"/>
          <p:cNvSpPr/>
          <p:nvPr/>
        </p:nvSpPr>
        <p:spPr>
          <a:xfrm flipH="1">
            <a:off x="8434705" y="5866130"/>
            <a:ext cx="405130" cy="343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8434705" y="5866130"/>
            <a:ext cx="40513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838565" y="5923915"/>
            <a:ext cx="77216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MVCFF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111" name="文本框 110"/>
          <p:cNvSpPr txBox="1"/>
          <p:nvPr/>
        </p:nvSpPr>
        <p:spPr>
          <a:xfrm>
            <a:off x="8838565" y="6312535"/>
            <a:ext cx="77216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000" b="1"/>
              <a:t>MVCFF+</a:t>
            </a:r>
            <a:endParaRPr lang="en-US" altLang="zh-CN" sz="1000" b="1"/>
          </a:p>
          <a:p>
            <a:pPr algn="ctr"/>
            <a:endParaRPr lang="en-US" altLang="zh-CN" sz="1000" b="1"/>
          </a:p>
        </p:txBody>
      </p:sp>
      <p:sp>
        <p:nvSpPr>
          <p:cNvPr id="112" name="椭圆 111"/>
          <p:cNvSpPr/>
          <p:nvPr/>
        </p:nvSpPr>
        <p:spPr>
          <a:xfrm flipH="1">
            <a:off x="8431530" y="6254750"/>
            <a:ext cx="405130" cy="34353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8417560" y="6261735"/>
            <a:ext cx="44196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FP</a:t>
            </a:r>
            <a:endParaRPr lang="en-US" altLang="zh-CN" sz="1400" b="1">
              <a:solidFill>
                <a:schemeClr val="bg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128*33"/>
  <p:tag name="TABLE_ENDDRAG_RECT" val="436*31*128*33"/>
</p:tagLst>
</file>

<file path=ppt/tags/tag64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65.xml><?xml version="1.0" encoding="utf-8"?>
<p:tagLst xmlns:p="http://schemas.openxmlformats.org/presentationml/2006/main">
  <p:tag name="TABLE_ENDDRAG_ORIGIN_RECT" val="98*58"/>
  <p:tag name="TABLE_ENDDRAG_RECT" val="431*242*98*58"/>
</p:tagLst>
</file>

<file path=ppt/tags/tag66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67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68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69.xml><?xml version="1.0" encoding="utf-8"?>
<p:tagLst xmlns:p="http://schemas.openxmlformats.org/presentationml/2006/main">
  <p:tag name="TABLE_ENDDRAG_ORIGIN_RECT" val="117*53"/>
  <p:tag name="TABLE_ENDDRAG_RECT" val="260*201*117*53"/>
  <p:tag name="TABLE_AUTOADJUST_FLAG" val="1"/>
</p:tagLst>
</file>

<file path=ppt/tags/tag70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71.xml><?xml version="1.0" encoding="utf-8"?>
<p:tagLst xmlns:p="http://schemas.openxmlformats.org/presentationml/2006/main">
  <p:tag name="TABLE_ENDDRAG_ORIGIN_RECT" val="117*55"/>
  <p:tag name="TABLE_ENDDRAG_RECT" val="480*201*117*55"/>
  <p:tag name="TABLE_AUTOADJUST_FLAG" val="1"/>
</p:tagLst>
</file>

<file path=ppt/tags/tag72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73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74.xml><?xml version="1.0" encoding="utf-8"?>
<p:tagLst xmlns:p="http://schemas.openxmlformats.org/presentationml/2006/main">
  <p:tag name="TABLE_ENDDRAG_ORIGIN_RECT" val="117*55"/>
  <p:tag name="TABLE_ENDDRAG_RECT" val="480*201*117*55"/>
  <p:tag name="TABLE_AUTOADJUST_FLAG" val="1"/>
</p:tagLst>
</file>

<file path=ppt/tags/tag75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76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77.xml><?xml version="1.0" encoding="utf-8"?>
<p:tagLst xmlns:p="http://schemas.openxmlformats.org/presentationml/2006/main">
  <p:tag name="TABLE_ENDDRAG_ORIGIN_RECT" val="117*55"/>
  <p:tag name="TABLE_ENDDRAG_RECT" val="260*379*117*55"/>
  <p:tag name="TABLE_AUTOADJUST_FLAG" val="1"/>
</p:tagLst>
</file>

<file path=ppt/tags/tag78.xml><?xml version="1.0" encoding="utf-8"?>
<p:tagLst xmlns:p="http://schemas.openxmlformats.org/presentationml/2006/main">
  <p:tag name="TABLE_ENDDRAG_ORIGIN_RECT" val="117*55"/>
  <p:tag name="TABLE_ENDDRAG_RECT" val="480*379*117*55"/>
  <p:tag name="TABLE_AUTOADJUST_FLAG" val="1"/>
</p:tagLst>
</file>

<file path=ppt/tags/tag79.xml><?xml version="1.0" encoding="utf-8"?>
<p:tagLst xmlns:p="http://schemas.openxmlformats.org/presentationml/2006/main">
  <p:tag name="TABLE_ENDDRAG_ORIGIN_RECT" val="117*55"/>
  <p:tag name="TABLE_ENDDRAG_RECT" val="704*379*117*55"/>
  <p:tag name="TABLE_AUTOADJUST_FLAG" val="1"/>
</p:tagLst>
</file>

<file path=ppt/tags/tag80.xml><?xml version="1.0" encoding="utf-8"?>
<p:tagLst xmlns:p="http://schemas.openxmlformats.org/presentationml/2006/main">
  <p:tag name="TABLE_ENDDRAG_ORIGIN_RECT" val="128*33"/>
  <p:tag name="TABLE_ENDDRAG_RECT" val="436*31*128*33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TABLE_ENDDRAG_ORIGIN_RECT" val="128*33"/>
  <p:tag name="TABLE_ENDDRAG_RECT" val="436*31*128*33"/>
</p:tagLst>
</file>

<file path=ppt/tags/tag83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84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85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86.xml><?xml version="1.0" encoding="utf-8"?>
<p:tagLst xmlns:p="http://schemas.openxmlformats.org/presentationml/2006/main">
  <p:tag name="TABLE_ENDDRAG_ORIGIN_RECT" val="117*53"/>
  <p:tag name="TABLE_ENDDRAG_RECT" val="260*201*117*53"/>
  <p:tag name="TABLE_AUTOADJUST_FLAG" val="1"/>
</p:tagLst>
</file>

<file path=ppt/tags/tag87.xml><?xml version="1.0" encoding="utf-8"?>
<p:tagLst xmlns:p="http://schemas.openxmlformats.org/presentationml/2006/main">
  <p:tag name="TABLE_ENDDRAG_ORIGIN_RECT" val="117*55"/>
  <p:tag name="TABLE_ENDDRAG_RECT" val="480*201*117*55"/>
  <p:tag name="TABLE_AUTOADJUST_FLAG" val="1"/>
</p:tagLst>
</file>

<file path=ppt/tags/tag88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89.xml><?xml version="1.0" encoding="utf-8"?>
<p:tagLst xmlns:p="http://schemas.openxmlformats.org/presentationml/2006/main">
  <p:tag name="TABLE_ENDDRAG_ORIGIN_RECT" val="117*46"/>
  <p:tag name="TABLE_ENDDRAG_RECT" val="57*111*117*46"/>
  <p:tag name="TABLE_AUTOADJUST_FLAG" val="1"/>
</p:tagLst>
</file>

<file path=ppt/tags/tag90.xml><?xml version="1.0" encoding="utf-8"?>
<p:tagLst xmlns:p="http://schemas.openxmlformats.org/presentationml/2006/main">
  <p:tag name="TABLE_ENDDRAG_ORIGIN_RECT" val="117*55"/>
  <p:tag name="TABLE_ENDDRAG_RECT" val="260*379*117*55"/>
  <p:tag name="TABLE_AUTOADJUST_FLAG" val="1"/>
</p:tagLst>
</file>

<file path=ppt/tags/tag91.xml><?xml version="1.0" encoding="utf-8"?>
<p:tagLst xmlns:p="http://schemas.openxmlformats.org/presentationml/2006/main">
  <p:tag name="TABLE_ENDDRAG_ORIGIN_RECT" val="117*55"/>
  <p:tag name="TABLE_ENDDRAG_RECT" val="480*379*117*55"/>
  <p:tag name="TABLE_AUTOADJUST_FLAG" val="1"/>
</p:tagLst>
</file>

<file path=ppt/tags/tag92.xml><?xml version="1.0" encoding="utf-8"?>
<p:tagLst xmlns:p="http://schemas.openxmlformats.org/presentationml/2006/main">
  <p:tag name="TABLE_ENDDRAG_ORIGIN_RECT" val="128*33"/>
  <p:tag name="TABLE_ENDDRAG_RECT" val="436*31*128*33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1298</Words>
  <Application>WPS 演示</Application>
  <PresentationFormat>宽屏</PresentationFormat>
  <Paragraphs>337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淺默ㄨ</cp:lastModifiedBy>
  <cp:revision>159</cp:revision>
  <dcterms:created xsi:type="dcterms:W3CDTF">2019-06-19T02:08:00Z</dcterms:created>
  <dcterms:modified xsi:type="dcterms:W3CDTF">2025-08-20T04:04:43Z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8440A5BB433748B7BE8B2A09D81C42B7_11</vt:lpwstr>
  </property>
</Properties>
</file>